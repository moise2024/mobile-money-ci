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Analyse des flux Mobile Money en Côte d'Ivoire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C8"/>
                </a:solidFill>
                <a:latin typeface="Calibri"/>
              </a:defRPr>
            </a:pPr>
            <a:r>
              <a:t>Pipeline ETL · Schéma en étoile · Airflow ·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572000"/>
            <a:ext cx="4876495" cy="3657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C8"/>
                </a:solidFill>
                <a:latin typeface="Calibri"/>
              </a:defRPr>
            </a:pPr>
            <a:r>
              <a:t>Notre trinôme · Projet de Fin de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4"/>
                </a:solidFill>
                <a:latin typeface="Calibri"/>
              </a:defRPr>
            </a:pPr>
            <a:r>
              <a:t>Encadré par : GOUAH Tato Serge · Juin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Calibri"/>
              </a:defRPr>
            </a:pPr>
            <a:r>
              <a:t>Plan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1. Contexte et problématique métier (2 min)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2. Architecture du pipeline (2 min)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3. Dataset et audit de qualité (2 min)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4. Pipeline ETL : transformations clés (2 min)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5. Modélisation : schéma en étoile (2 min)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6. Analyses SQL et résultats (2 min)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7. Dashboard et visualisations (1 min)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8. Orchestration : Airflow + Docker (1 min)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9. Difficultés et conclusion (1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  <a:latin typeface="Calibri"/>
              </a:defRPr>
            </a:pPr>
            <a:r>
              <a:t>1. Contexte : Mobile Money en Côte d'Ivoire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4 opérateurs majeurs : MTN CI, Orange Money, Moov Africa, Wave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Plus de 20 millions d'utilisateurs en CI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~12 millions de transactions par jour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Secteur stratégique : télécoms, fintech, banques, retail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Notre mission : Data Engineer chez un agrégateur de paiements à Abidjan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Objectif : transformer 100 000 transactions brutes en indicateurs actionnables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  <a:latin typeface="Calibri"/>
              </a:defRPr>
            </a:pPr>
            <a:r>
              <a:t>2. Architecture du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371600" cy="3200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1. CSV brut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100k lignes</a:t>
            </a:r>
            <a:br/>
            <a:r>
              <a:t>12 colonnes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645920"/>
            <a:ext cx="1371600" cy="3200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9202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2. 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83464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Pandas</a:t>
            </a:r>
            <a:br/>
            <a:r>
              <a:t>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645920"/>
            <a:ext cx="1371600" cy="32004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9202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3. 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83464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Nettoyage</a:t>
            </a:r>
            <a:br/>
            <a:r>
              <a:t>+8 colonnes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1645920"/>
            <a:ext cx="1371600" cy="3200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19202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4. 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83464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Supabase</a:t>
            </a:r>
            <a:br/>
            <a: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1645920"/>
            <a:ext cx="1371600" cy="3200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9202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5. Schéma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83464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4 dims + 1 fait</a:t>
            </a:r>
            <a:br/>
            <a:r>
              <a:t>Étoile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1645920"/>
            <a:ext cx="1371600" cy="3200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19202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6. Analyse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83464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SQL + Dashboard</a:t>
            </a:r>
            <a:br/>
            <a:r>
              <a:t>5 graphiques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646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1645920"/>
            <a:ext cx="1371600" cy="3200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19202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7. Orchestre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83464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Airflow</a:t>
            </a:r>
            <a:br/>
            <a:r>
              <a:t>Docker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6464"/>
                </a:solidFill>
                <a:latin typeface="Calibri"/>
              </a:defRPr>
            </a:pPr>
            <a:r>
              <a:t>Stack : Python/Pandas → Supabase PostgreSQL → dbt → Airflow → Docker → GitHub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  <a:latin typeface="Calibri"/>
              </a:defRPr>
            </a:pPr>
            <a:r>
              <a:t>3. Dataset et audit de qualité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Fichier : Data2_transactions_mobile_money_100k.csv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100 000 lignes, 12 colonnes, 13 Mo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Période : janvier à juin 2024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4 opérateurs : MTN CI, Orange Money, Moov Africa, Wave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5 types d'opérations : Dépôt, Retrait, Transfert, etc.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10 zones géographiques (Abidjan + intérieur)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Calibri"/>
              </a:defRPr>
            </a:pPr>
            <a:r>
              <a:t>Problèmes détectés à l'audit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❌ 2 000 NaN sur frais_fcfa (2%)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❌ 4 000 NaN sur zone_beneficiaire (4%)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❌ 3 000 NaN sur id_agent (3%)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❌ 200 montants aberrants (&lt;= 0 FCFA)</a:t>
            </a:r>
          </a:p>
          <a:p>
            <a:pPr>
              <a:spcAft>
                <a:spcPts val="600"/>
              </a:spcAft>
              <a:defRPr sz="1700">
                <a:solidFill>
                  <a:srgbClr val="000000"/>
                </a:solidFill>
                <a:latin typeface="Calibri"/>
              </a:defRPr>
            </a:pPr>
            <a:r>
              <a:t>❌ Type date_heure incorrect (str)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E7D32"/>
                </a:solidFill>
                <a:latin typeface="Calibri"/>
              </a:defRPr>
            </a:pPr>
            <a:r>
              <a:t>✅ Résultat : 99 800 lignes propres, 0 NaN, 200 aberrations supprimées, types corrigés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  <a:latin typeface="Calibri"/>
              </a:defRPr>
            </a:pPr>
            <a:r>
              <a:t>4. ETL — Extraction et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Chargement CSV avec pandas.read_csv() en 0.33 seconde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Inspection des types, valeurs manquantes, statistiques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Identification des colonnes à corriger et enrichir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Code clé :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9144000" cy="2286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02336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FF00"/>
                </a:solidFill>
                <a:latin typeface="Calibri"/>
              </a:defRPr>
            </a:pPr>
            <a:r>
              <a:t>import pandas as pd</a:t>
            </a:r>
            <a:br/>
            <a:r>
              <a:t>df = pd.read_csv('transactions_mobile_money_100k.csv')</a:t>
            </a:r>
            <a:br/>
            <a:r>
              <a:t>print(df.info())</a:t>
            </a:r>
            <a:br/>
            <a:r>
              <a:t>print(df.isnull().sum())</a:t>
            </a:r>
            <a:br/>
            <a:r>
              <a:t>print(df['montant_fcfa'].describe())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  <a:latin typeface="Calibri"/>
              </a:defRPr>
            </a:pPr>
            <a:r>
              <a:t>4. ETL — Nettoyage et enrichissement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Nettoyage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date_heure → datetime64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Chaînes vides → NaN → fillna()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frais_fcfa NaN → 0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zone_beneficiaire NaN → Zone inconnue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id_agent NaN → AGT-INCONNU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200 lignes aberrante supprimées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  <a:latin typeface="Calibri"/>
              </a:defRPr>
            </a:pPr>
            <a:r>
              <a:t>Enrichissement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montant_net_fcfa (montant - frais)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taux_frais_pct (%)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categorie_montant (Micro/Petit/Moyen/Gros)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tranche_horaire (Matin/Soirée/Nuit...)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inter_ville (même ville ? 0/1)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heure, jour_semaine, mois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E7D32"/>
                </a:solidFill>
                <a:latin typeface="Calibri"/>
              </a:defRPr>
            </a:pPr>
            <a:r>
              <a:t>✅ 5 tests qualité automatiques : complétude, unicité, validité, conformité, typage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  <a:latin typeface="Calibri"/>
              </a:defRPr>
            </a:pPr>
            <a:r>
              <a:t>Taux de succès global : 80.2% | Volume total : 14,8 milliards FCFA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  <a:latin typeface="Calibri"/>
              </a:defRPr>
            </a:pPr>
            <a:r>
              <a:t>4. ETL — Chargement Supabase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Supabase : base PostgreSQL cloud gratuite (sans CB)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Chargement par lots de 5 000 lignes (chunks)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99 800 lignes chargées en 62 secondes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Tables créées : transactions, agg_operateur, agg_type, agg_zone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Calibri"/>
              </a:defRPr>
            </a:pPr>
            <a:r>
              <a:t>Code clé (chargement par chunks) :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389120"/>
            <a:ext cx="9144000" cy="18288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57200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FF00"/>
                </a:solidFill>
                <a:latin typeface="Calibri"/>
              </a:defRPr>
            </a:pPr>
            <a:r>
              <a:t>chunks = [df[i:i+5000] for i in range(0, len(df), 5000)]</a:t>
            </a:r>
            <a:br/>
            <a:r>
              <a:t>for chunk in chunks:</a:t>
            </a:r>
            <a:br/>
            <a:r>
              <a:t>    chunk.to_sql('transactions', conn, if_exists='append', method='multi')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  <a:latin typeface="Calibri"/>
              </a:defRPr>
            </a:pPr>
            <a:r>
              <a:t>5. Modélisation : Schéma en étoile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926080"/>
            <a:ext cx="2103120" cy="1371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0" y="3108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faits_transactions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3566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montant · frais</a:t>
            </a:r>
            <a:br/>
            <a:r>
              <a:t>statut · inter_ville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097280"/>
            <a:ext cx="2103120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2344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dim_operateur</a:t>
            </a:r>
            <a:br/>
            <a:r>
              <a:t>4 opérateurs</a:t>
            </a:r>
            <a:br/>
            <a:r>
              <a:t>MTN, Orange, Moov, Wave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926080"/>
            <a:ext cx="210312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3063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dim_zone</a:t>
            </a:r>
            <a:br/>
            <a:r>
              <a:t>11 zones</a:t>
            </a:r>
            <a:br/>
            <a:r>
              <a:t>région, population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2926080"/>
            <a:ext cx="2103120" cy="13716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3063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dim_type_operation</a:t>
            </a:r>
            <a:br/>
            <a:r>
              <a:t>5 types</a:t>
            </a:r>
            <a:br/>
            <a:r>
              <a:t>catégorie, frais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5029200"/>
            <a:ext cx="2103120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51663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dim_date</a:t>
            </a:r>
            <a:br/>
            <a:r>
              <a:t>182 jours</a:t>
            </a:r>
            <a:br/>
            <a:r>
              <a:t>mois, trimestre, weekend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  <a:latin typeface="Calibri"/>
              </a:defRPr>
            </a:pPr>
            <a:r>
              <a:t>← FK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  <a:latin typeface="Calibri"/>
              </a:defRPr>
            </a:pPr>
            <a:r>
              <a:t>← FK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  <a:latin typeface="Calibri"/>
              </a:defRPr>
            </a:pPr>
            <a:r>
              <a:t>60 033 lignes dans faits_transactions · Clés étrangères 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  <a:latin typeface="Calibri"/>
              </a:defRPr>
            </a:pPr>
            <a:r>
              <a:t>6. Analyses SQL —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5C0"/>
                </a:solidFill>
                <a:latin typeface="Calibri"/>
              </a:defRPr>
            </a:pPr>
            <a:r>
              <a:t>Q1 - Volume par opérateur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Wave : 2,16 Mds FCFA | MTN CI : 2,12 Mds | Moov : 2,12 Mds | Orange : 2,10 Mds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Q2 - Tendance mensuelle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Volume stable ~1,4 Mds/mois · Légère baisse en juin (vacances)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Calibri"/>
              </a:defRPr>
            </a:pPr>
            <a:r>
              <a:t>Q3 - Top 5 agents par volume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AGT0113 : 88,2 M FCFA | AGT0074 : 85,9 M | AGT0052 : 84,9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C27B0"/>
                </a:solidFill>
                <a:latin typeface="Calibri"/>
              </a:defRPr>
            </a:pPr>
            <a:r>
              <a:t>Q4 - Taux d'échec par opérateur (CTE + RANK + LAG)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Moov Africa 10.1% &gt; Orange 10.0% &gt; MTN 9.8% &gt; Wave 9.7%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6464"/>
                </a:solidFill>
                <a:latin typeface="Calibri"/>
              </a:defRPr>
            </a:pPr>
            <a:r>
              <a:t>🔑 Fonctions de fenêtre utilisées : RANK() OVER, LAG(), PARTITION BY, CTE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  <a:latin typeface="Calibri"/>
              </a:defRPr>
            </a:pPr>
            <a:r>
              <a:t>7. Tableau de bord — 5 graphiques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Volume mensuel par opérateur (barres empilées)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Parts de marché par volume (camembert) ~25% chacun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Volume par tranche horaire (courbe) — pics à 8h et 19h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Taux de succès par opérateur (barres horizontales) ~80%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Distribution montants par catégorie (violin, échelle log)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5100"/>
                </a:solidFill>
                <a:latin typeface="Calibri"/>
              </a:defRPr>
            </a:pPr>
            <a:r>
              <a:t>📊 Interprétation métier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6464"/>
                </a:solidFill>
                <a:latin typeface="Calibri"/>
              </a:defRPr>
            </a:pPr>
            <a:r>
              <a:t>Marché équilibré entre 4 opérateurs · Pics d'activité matin et soir · Majorité de petits montants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  <a:latin typeface="Calibri"/>
              </a:defRPr>
            </a:pPr>
            <a:r>
              <a:t>8. Orchestration : Apache Airflow +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65C0"/>
                </a:solidFill>
                <a:latin typeface="Calibri"/>
              </a:defRPr>
            </a:pPr>
            <a:r>
              <a:t>DAG : pipeline_mobile_money_ci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Schedule : 0 23 * * * (23h00 chaque jour)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5 tâches enchaînées 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extract_csv → clean_data → load_supabase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→ run_dbt → generate_report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3 retries, alertes email, timeout 2h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Callbacks : on_failure, on_success, on_retry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Conteneurisation Docker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Dockerfile : python:3.10-slim (~130 Mo)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docker-compose : 3 services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postgres (metadata Airflow)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airflow-webserver (interface)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airflow-scheduler (planificateur)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Volumes partagés dags/ et data/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  <a:latin typeface="Calibri"/>
              </a:defRPr>
            </a:pPr>
            <a:r>
              <a:t>Bonus : CI/CD GitHub Actions + dbt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65C0"/>
                </a:solidFill>
                <a:latin typeface="Calibri"/>
              </a:defRPr>
            </a:pPr>
            <a:r>
              <a:t>GitHub Actions CI/CD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Déclenché à chaque git push (main/develop)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Job 1 : quality-checks (flake8, pytest)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Job 2 : docker-build (si tests OK)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Cache pip pour builds plus rapides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dbt (Data Build Tool)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Modèle SQL déclaratif : perf_operateurs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Vue analytique : volume mensuel par opérateur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Tests de qualité : not_null, unique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dbt run + dbt test automatisés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📦 Tous les livrables sur GitHub : https://github.com/moise2024/mobile-money-ci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  <a:latin typeface="Calibri"/>
              </a:defRPr>
            </a:pPr>
            <a:r>
              <a:t>README · Notebook .ipynb · DAG Airflow · Dockerfile · docker-compose · dbt · Rapport PDF · Captures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47A1"/>
                </a:solidFill>
                <a:latin typeface="Calibri"/>
              </a:defRPr>
            </a:pPr>
            <a:r>
              <a:t>9. Difficultés et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Calibri"/>
              </a:defRPr>
            </a:pPr>
            <a:r>
              <a:t>Gestion des accents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417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  <a:latin typeface="Calibri"/>
              </a:defRPr>
            </a:pPr>
            <a:r>
              <a:t>Succès vs Succes, Échec vs Echec → f-string avec UTF-8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48840"/>
            <a:ext cx="73152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Calibri"/>
              </a:defRPr>
            </a:pPr>
            <a:r>
              <a:t>Types datetime64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94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  <a:latin typeface="Calibri"/>
              </a:defRPr>
            </a:pPr>
            <a:r>
              <a:t>ns vs us selon version Pandas → détection dynamique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73152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71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Calibri"/>
              </a:defRPr>
            </a:pPr>
            <a:r>
              <a:t>Chargement 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  <a:latin typeface="Calibri"/>
              </a:defRPr>
            </a:pPr>
            <a:r>
              <a:t>Timeout du plan gratuit → chunks de 5000 lignes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73152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49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49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Calibri"/>
              </a:defRPr>
            </a:pPr>
            <a:r>
              <a:t>Limitation espace disque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749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  <a:latin typeface="Calibri"/>
              </a:defRPr>
            </a:pPr>
            <a:r>
              <a:t>/tmp plein → liaison directe avec les fichiers source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480560"/>
            <a:ext cx="73152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Calibri"/>
              </a:defRPr>
            </a:pPr>
            <a:r>
              <a:t>Token 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526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  <a:latin typeface="Calibri"/>
              </a:defRPr>
            </a:pPr>
            <a:r>
              <a:t>Scope workflow manquant → ajout manuel sur GitHub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257800"/>
            <a:ext cx="73152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03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Calibri"/>
              </a:defRPr>
            </a:pPr>
            <a:r>
              <a:t>Mappage 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303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  <a:latin typeface="Calibri"/>
              </a:defRPr>
            </a:pPr>
            <a:r>
              <a:t>60k faits vs 99k transactions → jointure dim_date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Pipeline ETL complet : 100 000 → 99 800 lignes propres en 0.33s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Schéma en étoile : 4 dimensions + 1 table de faits dans Supabase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4 requêtes SQL analytiques dont CTE + fonctions de fenêtre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Dashboard 5 graphiques + rapport PDF + notebook .ipynb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DAG Airflow automatisé + Docker + CI/CD GitHub Actions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✅ dbt (bonus) pour la transformation déclarative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303520"/>
            <a:ext cx="9418320" cy="3657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Merci pour votre attention !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